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uce Heavy" charset="1" panose="00000A00000000000000"/>
      <p:regular r:id="rId13"/>
    </p:embeddedFont>
    <p:embeddedFont>
      <p:font typeface="Open Sauce" charset="1" panose="00000500000000000000"/>
      <p:regular r:id="rId14"/>
    </p:embeddedFont>
    <p:embeddedFont>
      <p:font typeface="Montserrat Ultra-Bold" charset="1" panose="00000900000000000000"/>
      <p:regular r:id="rId15"/>
    </p:embeddedFont>
    <p:embeddedFont>
      <p:font typeface="Montserrat Bold" charset="1" panose="00000800000000000000"/>
      <p:regular r:id="rId16"/>
    </p:embeddedFont>
    <p:embeddedFont>
      <p:font typeface="Open Sauce Light" charset="1" panose="00000400000000000000"/>
      <p:regular r:id="rId17"/>
    </p:embeddedFont>
    <p:embeddedFont>
      <p:font typeface="Codec Pro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040681" y="-1805781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-1662139" y="2153651"/>
            <a:ext cx="64922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4954061" y="8017217"/>
            <a:ext cx="64922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77022" y="401173"/>
            <a:ext cx="351678" cy="372365"/>
          </a:xfrm>
          <a:custGeom>
            <a:avLst/>
            <a:gdLst/>
            <a:ahLst/>
            <a:cxnLst/>
            <a:rect r="r" b="b" t="t" l="l"/>
            <a:pathLst>
              <a:path h="372365" w="351678">
                <a:moveTo>
                  <a:pt x="0" y="0"/>
                </a:moveTo>
                <a:lnTo>
                  <a:pt x="351678" y="0"/>
                </a:lnTo>
                <a:lnTo>
                  <a:pt x="351678" y="372364"/>
                </a:lnTo>
                <a:lnTo>
                  <a:pt x="0" y="37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35810" y="432733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EkoPin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51800" y="9220200"/>
            <a:ext cx="620340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Erika Florjanc, Vukašin Ćurguz, Filip Milovanović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0608" y="4733015"/>
            <a:ext cx="16606783" cy="2174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721"/>
              </a:lnSpc>
              <a:spcBef>
                <a:spcPct val="0"/>
              </a:spcBef>
            </a:pPr>
            <a:r>
              <a:rPr lang="en-US" b="true" sz="12658" spc="29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PORAZDELJENO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0608" y="3131407"/>
            <a:ext cx="16606783" cy="2174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721"/>
              </a:lnSpc>
              <a:spcBef>
                <a:spcPct val="0"/>
              </a:spcBef>
            </a:pPr>
            <a:r>
              <a:rPr lang="en-US" b="true" sz="12658" spc="29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PARALELNO 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0608" y="3859496"/>
            <a:ext cx="16606783" cy="2174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721"/>
              </a:lnSpc>
              <a:spcBef>
                <a:spcPct val="0"/>
              </a:spcBef>
            </a:pPr>
            <a:r>
              <a:rPr lang="en-US" b="true" sz="12658" spc="29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VERIGA BLOKOV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5538" y="6841268"/>
            <a:ext cx="5782449" cy="60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80"/>
              </a:lnSpc>
              <a:spcBef>
                <a:spcPct val="0"/>
              </a:spcBef>
            </a:pPr>
            <a:r>
              <a:rPr lang="en-US" b="true" sz="3557" spc="8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RAČUNANJE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55975" y="8854058"/>
            <a:ext cx="474911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Člani skupine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34807" y="-1763444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3" y="0"/>
                </a:lnTo>
                <a:lnTo>
                  <a:pt x="14774613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30951" y="2579522"/>
            <a:ext cx="8259370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Cilj naloge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0951" y="3756662"/>
            <a:ext cx="9800436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Cilj naloge je bil implementirati verigo blokov z algoritmom konsenza proof-of-work ter časovno potratno rudarjenje paralelizirati. Paralelizacija je bila izvedena na dveh nivojih: lokalno z uporabo niti in porazdeljeno z uporabo MPI. Poleg tega je bilo potrebno zagotoviti validacijo blokov, prilagodljivo težavnost, izbiro verige z največjo kumulativno težavnostjo ter spletno storitev za dostop do sistema.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77022" y="401173"/>
            <a:ext cx="351678" cy="372365"/>
          </a:xfrm>
          <a:custGeom>
            <a:avLst/>
            <a:gdLst/>
            <a:ahLst/>
            <a:cxnLst/>
            <a:rect r="r" b="b" t="t" l="l"/>
            <a:pathLst>
              <a:path h="372365" w="351678">
                <a:moveTo>
                  <a:pt x="0" y="0"/>
                </a:moveTo>
                <a:lnTo>
                  <a:pt x="351678" y="0"/>
                </a:lnTo>
                <a:lnTo>
                  <a:pt x="351678" y="372364"/>
                </a:lnTo>
                <a:lnTo>
                  <a:pt x="0" y="37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35810" y="432733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EkoPin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50757" y="4499610"/>
            <a:ext cx="7311834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Sistem je razdeljen v več plasti. Uporabniški vmesnik komunicira s strežnikom preko REST API-ja. Strežnik teče samo na glavnem proces, ki koordinira rudarjenje. Vsako vozlišče uporablja več niti.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-1724884" y="4279678"/>
            <a:ext cx="64922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77022" y="401173"/>
            <a:ext cx="351678" cy="372365"/>
          </a:xfrm>
          <a:custGeom>
            <a:avLst/>
            <a:gdLst/>
            <a:ahLst/>
            <a:cxnLst/>
            <a:rect r="r" b="b" t="t" l="l"/>
            <a:pathLst>
              <a:path h="372365" w="351678">
                <a:moveTo>
                  <a:pt x="0" y="0"/>
                </a:moveTo>
                <a:lnTo>
                  <a:pt x="351678" y="0"/>
                </a:lnTo>
                <a:lnTo>
                  <a:pt x="351678" y="372364"/>
                </a:lnTo>
                <a:lnTo>
                  <a:pt x="0" y="37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26294" y="2557159"/>
            <a:ext cx="7886696" cy="5487007"/>
          </a:xfrm>
          <a:custGeom>
            <a:avLst/>
            <a:gdLst/>
            <a:ahLst/>
            <a:cxnLst/>
            <a:rect r="r" b="b" t="t" l="l"/>
            <a:pathLst>
              <a:path h="5487007" w="7886696">
                <a:moveTo>
                  <a:pt x="0" y="0"/>
                </a:moveTo>
                <a:lnTo>
                  <a:pt x="7886696" y="0"/>
                </a:lnTo>
                <a:lnTo>
                  <a:pt x="7886696" y="5487007"/>
                </a:lnTo>
                <a:lnTo>
                  <a:pt x="0" y="54870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16785" y="2194892"/>
            <a:ext cx="6469308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Arhitektura rešitve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5810" y="432733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EkoPin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7022" y="1274842"/>
            <a:ext cx="8299408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Validacija verige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7022" y="2325377"/>
            <a:ext cx="8238257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6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Pred dodajanjem novega bloka se preveri njegova veljavnost: indeks, prejšnja zgoščena vrednost, časovna značka in težavnost v hashu. V primeru, da blok povzroči konflikt, se kot glavna veriga izbere tista z največjo kumulativno težavnostjo, ki predstavlja največ vloženega računalniškega dela.</a:t>
            </a:r>
          </a:p>
          <a:p>
            <a:pPr algn="just">
              <a:lnSpc>
                <a:spcPts val="27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35810" y="432733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EkoPin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77022" y="401173"/>
            <a:ext cx="351678" cy="372365"/>
          </a:xfrm>
          <a:custGeom>
            <a:avLst/>
            <a:gdLst/>
            <a:ahLst/>
            <a:cxnLst/>
            <a:rect r="r" b="b" t="t" l="l"/>
            <a:pathLst>
              <a:path h="372365" w="351678">
                <a:moveTo>
                  <a:pt x="0" y="0"/>
                </a:moveTo>
                <a:lnTo>
                  <a:pt x="351678" y="0"/>
                </a:lnTo>
                <a:lnTo>
                  <a:pt x="351678" y="372364"/>
                </a:lnTo>
                <a:lnTo>
                  <a:pt x="0" y="37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627400" y="1426616"/>
            <a:ext cx="8453127" cy="7366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static const Blockchain* select</a:t>
            </a: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</a:t>
            </a: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hainWithMaxCumulativeDifficulty(c</a:t>
            </a: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</a:t>
            </a: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nst st</a:t>
            </a: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</a:t>
            </a: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::v</a:t>
            </a: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ec</a:t>
            </a: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tor&lt;Blockchain&gt;&amp;</a:t>
            </a: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chains) {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if(chains.empty()) {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</a:t>
            </a: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eturn nullptr;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}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c</a:t>
            </a: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</a:t>
            </a: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nst Blockchain* bestChain = &amp;chains[0];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long long maxDifficulty = bestChain-&gt;getCumulativeDifficulty();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for(size_t i = 1; i &lt; chains.size(); i++) {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long long difficulty = chains[i].getCumulativeDifficulty();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if(difficulty &gt; maxDifficulty) {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maxDifficulty = difficulty;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bestChain = &amp;chains[i];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}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}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return bestChain;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}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1901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7022" y="4341659"/>
            <a:ext cx="9239365" cy="5800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0"/>
              </a:lnSpc>
            </a:pPr>
            <a:r>
              <a:rPr lang="en-US" sz="103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bool addBlockWithForkResolution(Block&amp; newBlock) {</a:t>
            </a:r>
          </a:p>
          <a:p>
            <a:pPr algn="l">
              <a:lnSpc>
                <a:spcPts val="1450"/>
              </a:lnSpc>
            </a:pPr>
            <a:r>
              <a:rPr lang="en-US" sz="103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if(newBlock.index &lt; (int)chain.size()) {</a:t>
            </a:r>
          </a:p>
          <a:p>
            <a:pPr algn="l">
              <a:lnSpc>
                <a:spcPts val="1450"/>
              </a:lnSpc>
            </a:pP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Blockchain alternative</a:t>
            </a: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</a:t>
            </a: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hain;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alternativeChain.difficulty = difficulty;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alternativeChain.bl</a:t>
            </a: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</a:t>
            </a: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ckGenerationInterval = blockGenerationInterval;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alternativeChain.</a:t>
            </a: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</a:t>
            </a: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iffAdjustInt</a:t>
            </a: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rval = diffAdjustInterval;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for(int i = 0; i &lt; newBlo</a:t>
            </a: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</a:t>
            </a: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k.index;</a:t>
            </a: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i++) {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alternativeChain.chain.push_back(chain[i]);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}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alte</a:t>
            </a: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</a:t>
            </a: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nativeChain.chain.push_back(newBl</a:t>
            </a: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</a:t>
            </a: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ck);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alternativeChain.adjustDifficulty();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long long currentDifficulty = getCumulativeDifficulty();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long long alternativeDifficulty = alternativeChain.getCumulativeDifficulty();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if(alternativeDifficulty &gt; currentDifficulty) {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*this = alternativeChain;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<![CDATA[ std::cout << "* Fork resolucija: Izbrana veriga z vecjo kumulativno tezavnostjo (" << alternativeDifficulty << " > " << currentDifficulty << ")" << std::endl;]]>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return true;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} else {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<![CDATA[ std::cout << "* Fork zaznan, vendar trenutna veriga ostaja (kum. tez: " << currentDifficulty << " >= " << alternativeDifficulty << ")" << std::endl;]]>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return false;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}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}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addBlock(newBlock);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return true;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  <a:r>
              <a:rPr lang="en-US" sz="1035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}</a:t>
            </a:r>
          </a:p>
          <a:p>
            <a:pPr algn="l" marL="0" indent="0" lvl="0">
              <a:lnSpc>
                <a:spcPts val="14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7022" y="401173"/>
            <a:ext cx="351678" cy="372365"/>
          </a:xfrm>
          <a:custGeom>
            <a:avLst/>
            <a:gdLst/>
            <a:ahLst/>
            <a:cxnLst/>
            <a:rect r="r" b="b" t="t" l="l"/>
            <a:pathLst>
              <a:path h="372365" w="351678">
                <a:moveTo>
                  <a:pt x="0" y="0"/>
                </a:moveTo>
                <a:lnTo>
                  <a:pt x="351678" y="0"/>
                </a:lnTo>
                <a:lnTo>
                  <a:pt x="351678" y="372364"/>
                </a:lnTo>
                <a:lnTo>
                  <a:pt x="0" y="37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76525" y="1760010"/>
            <a:ext cx="7282775" cy="6117531"/>
          </a:xfrm>
          <a:custGeom>
            <a:avLst/>
            <a:gdLst/>
            <a:ahLst/>
            <a:cxnLst/>
            <a:rect r="r" b="b" t="t" l="l"/>
            <a:pathLst>
              <a:path h="6117531" w="7282775">
                <a:moveTo>
                  <a:pt x="0" y="0"/>
                </a:moveTo>
                <a:lnTo>
                  <a:pt x="7282775" y="0"/>
                </a:lnTo>
                <a:lnTo>
                  <a:pt x="7282775" y="6117531"/>
                </a:lnTo>
                <a:lnTo>
                  <a:pt x="0" y="61175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0084" y="1617859"/>
            <a:ext cx="6556821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Spletna storitev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5603" y="2888240"/>
            <a:ext cx="7404436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spc="6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Implementirana spletna storitev v jeziku C++ z uporabo knjižnice cpp-httplib. REST API omogoča rudarjenje novih blokov in pregled verige. REST sloj je ločen od logike rudarjenja in služi zgolj kot vmesnik do sistema.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5810" y="432733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EkoPin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10701" y="5146039"/>
            <a:ext cx="8302111" cy="4112261"/>
          </a:xfrm>
          <a:custGeom>
            <a:avLst/>
            <a:gdLst/>
            <a:ahLst/>
            <a:cxnLst/>
            <a:rect r="r" b="b" t="t" l="l"/>
            <a:pathLst>
              <a:path h="4112261" w="8302111">
                <a:moveTo>
                  <a:pt x="0" y="0"/>
                </a:moveTo>
                <a:lnTo>
                  <a:pt x="8302111" y="0"/>
                </a:lnTo>
                <a:lnTo>
                  <a:pt x="8302111" y="4112261"/>
                </a:lnTo>
                <a:lnTo>
                  <a:pt x="0" y="4112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6785" y="4940456"/>
            <a:ext cx="6908551" cy="4317844"/>
          </a:xfrm>
          <a:custGeom>
            <a:avLst/>
            <a:gdLst/>
            <a:ahLst/>
            <a:cxnLst/>
            <a:rect r="r" b="b" t="t" l="l"/>
            <a:pathLst>
              <a:path h="4317844" w="6908551">
                <a:moveTo>
                  <a:pt x="0" y="0"/>
                </a:moveTo>
                <a:lnTo>
                  <a:pt x="6908551" y="0"/>
                </a:lnTo>
                <a:lnTo>
                  <a:pt x="6908551" y="4317844"/>
                </a:lnTo>
                <a:lnTo>
                  <a:pt x="0" y="43178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6785" y="1897842"/>
            <a:ext cx="9360926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Pohitritev izvajanja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6785" y="2893608"/>
            <a:ext cx="7958389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6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Meritve kažejo, da se čas rudarjenja zmanjšuje s povečevanjem števila niti in vozlišč. Pohitritev je skoraj linearna do določene meje, po kateri jo omejujejo stroški sinhronizacije in komunikacije med procesi.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77022" y="401173"/>
            <a:ext cx="351678" cy="372365"/>
          </a:xfrm>
          <a:custGeom>
            <a:avLst/>
            <a:gdLst/>
            <a:ahLst/>
            <a:cxnLst/>
            <a:rect r="r" b="b" t="t" l="l"/>
            <a:pathLst>
              <a:path h="372365" w="351678">
                <a:moveTo>
                  <a:pt x="0" y="0"/>
                </a:moveTo>
                <a:lnTo>
                  <a:pt x="351678" y="0"/>
                </a:lnTo>
                <a:lnTo>
                  <a:pt x="351678" y="372364"/>
                </a:lnTo>
                <a:lnTo>
                  <a:pt x="0" y="3723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35810" y="432733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EkoPin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62929" y="4895850"/>
            <a:ext cx="15120037" cy="220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14"/>
              </a:lnSpc>
              <a:spcBef>
                <a:spcPct val="0"/>
              </a:spcBef>
            </a:pPr>
            <a:r>
              <a:rPr lang="en-US" b="true" sz="12867" spc="29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POZORNOST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18805" y="3428125"/>
            <a:ext cx="6450389" cy="449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4"/>
              </a:lnSpc>
            </a:pPr>
            <a:r>
              <a:rPr lang="en-US" b="true" sz="12867" spc="29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ZA</a:t>
            </a:r>
          </a:p>
          <a:p>
            <a:pPr algn="ctr" marL="0" indent="0" lvl="0">
              <a:lnSpc>
                <a:spcPts val="18014"/>
              </a:lnSpc>
              <a:spcBef>
                <a:spcPct val="0"/>
              </a:spcBef>
            </a:pPr>
            <a:r>
              <a:rPr lang="en-US" b="true" sz="12867" spc="29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6785" y="2058236"/>
            <a:ext cx="15120037" cy="220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14"/>
              </a:lnSpc>
              <a:spcBef>
                <a:spcPct val="0"/>
              </a:spcBef>
            </a:pPr>
            <a:r>
              <a:rPr lang="en-US" b="true" sz="12867" spc="29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HVALA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77022" y="401173"/>
            <a:ext cx="351678" cy="372365"/>
          </a:xfrm>
          <a:custGeom>
            <a:avLst/>
            <a:gdLst/>
            <a:ahLst/>
            <a:cxnLst/>
            <a:rect r="r" b="b" t="t" l="l"/>
            <a:pathLst>
              <a:path h="372365" w="351678">
                <a:moveTo>
                  <a:pt x="0" y="0"/>
                </a:moveTo>
                <a:lnTo>
                  <a:pt x="351678" y="0"/>
                </a:lnTo>
                <a:lnTo>
                  <a:pt x="351678" y="372364"/>
                </a:lnTo>
                <a:lnTo>
                  <a:pt x="0" y="37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35810" y="432733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EkoPin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DAG-tVET4lQ</dc:identifier>
  <dcterms:modified xsi:type="dcterms:W3CDTF">2011-08-01T06:04:30Z</dcterms:modified>
  <cp:revision>1</cp:revision>
  <dc:title>Dark Blue and White Modern Gradient Programming Presentation</dc:title>
</cp:coreProperties>
</file>